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0"/>
  </p:notesMasterIdLst>
  <p:handoutMasterIdLst>
    <p:handoutMasterId r:id="rId11"/>
  </p:handoutMasterIdLst>
  <p:sldIdLst>
    <p:sldId id="312" r:id="rId5"/>
    <p:sldId id="304" r:id="rId6"/>
    <p:sldId id="307" r:id="rId7"/>
    <p:sldId id="282" r:id="rId8"/>
    <p:sldId id="314" r:id="rId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3200"/>
              <a:t>MODULE 3: STATISTICS </a:t>
            </a:r>
            <a:r>
              <a:rPr lang="en-US" sz="3200" dirty="0"/>
              <a:t>AND PROBABILITY</a:t>
            </a:r>
            <a:br>
              <a:rPr lang="en-US" sz="3200" dirty="0"/>
            </a:br>
            <a:br>
              <a:rPr lang="en-US" sz="3200" dirty="0"/>
            </a:br>
            <a:r>
              <a:rPr lang="en-US" sz="2000" dirty="0"/>
              <a:t>SHIVALI MUTHUKUMAR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synopsis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 this presentation I am going to explain the concepts I learnt in this module and how I applied it to complete two assignments. I practiced and executed the concepts through python both for self-study and for the given task.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5" y="353186"/>
            <a:ext cx="10913962" cy="994164"/>
          </a:xfrm>
        </p:spPr>
        <p:txBody>
          <a:bodyPr/>
          <a:lstStyle/>
          <a:p>
            <a:r>
              <a:rPr lang="en-US" sz="2800" dirty="0"/>
              <a:t>Topics discussed and understanding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62955-2908-B1DA-6D58-28B55558D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062" y="1746504"/>
            <a:ext cx="11365993" cy="4946904"/>
          </a:xfrm>
        </p:spPr>
        <p:txBody>
          <a:bodyPr numCol="2"/>
          <a:lstStyle/>
          <a:p>
            <a:r>
              <a:rPr lang="en-IN" dirty="0"/>
              <a:t>In this module I refreshed my understanding of statistics and probability, where I studied the measures of central tendency (mean, median and mode), dispersion (range, variance, standard deviation and IQR), probability basics (favourable outcomes divided by total outcomes), normal distribution ( bell curve, Z-scores, probabilities from tables) and complex statistics (hypothesis testing, ANOVA, t-tests).</a:t>
            </a:r>
          </a:p>
          <a:p>
            <a:r>
              <a:rPr lang="en-IN" dirty="0"/>
              <a:t>I learned the probability concepts such as simple vs compound events, sampling distributions, p-values and significance where alpha = 0.05, which allows us to understand when results are meaningful.</a:t>
            </a:r>
          </a:p>
          <a:p>
            <a:r>
              <a:rPr lang="en-IN" dirty="0"/>
              <a:t>Apart from this, I learnt how to do these tasks in python very easily through a lot of self-study.</a:t>
            </a:r>
          </a:p>
          <a:p>
            <a:r>
              <a:rPr lang="en-IN" dirty="0"/>
              <a:t>I used modules and libraries such as </a:t>
            </a:r>
            <a:r>
              <a:rPr lang="en-IN" dirty="0" err="1"/>
              <a:t>numpy</a:t>
            </a:r>
            <a:r>
              <a:rPr lang="en-IN" dirty="0"/>
              <a:t>, pandas, </a:t>
            </a:r>
            <a:r>
              <a:rPr lang="en-IN" dirty="0" err="1"/>
              <a:t>scipy.stats</a:t>
            </a:r>
            <a:r>
              <a:rPr lang="en-IN" dirty="0"/>
              <a:t>, statistics, matplotlib and seaborn.</a:t>
            </a:r>
          </a:p>
          <a:p>
            <a:r>
              <a:rPr lang="en-IN" dirty="0"/>
              <a:t>For descriptive functions I used mean(), median(), </a:t>
            </a:r>
            <a:r>
              <a:rPr lang="en-IN" dirty="0" err="1"/>
              <a:t>stdev</a:t>
            </a:r>
            <a:r>
              <a:rPr lang="en-IN" dirty="0"/>
              <a:t>() and var().</a:t>
            </a:r>
          </a:p>
          <a:p>
            <a:r>
              <a:rPr lang="en-IN" dirty="0"/>
              <a:t>For hypothesis testing with </a:t>
            </a:r>
            <a:r>
              <a:rPr lang="en-IN" dirty="0" err="1"/>
              <a:t>scipy.stats</a:t>
            </a:r>
            <a:r>
              <a:rPr lang="en-IN" dirty="0"/>
              <a:t>, I used, ttest_1samp() for one sample t-test.</a:t>
            </a:r>
          </a:p>
          <a:p>
            <a:r>
              <a:rPr lang="en-IN" dirty="0" err="1"/>
              <a:t>f_oneway</a:t>
            </a:r>
            <a:r>
              <a:rPr lang="en-IN" dirty="0"/>
              <a:t>() for ANOVA.</a:t>
            </a:r>
          </a:p>
          <a:p>
            <a:r>
              <a:rPr lang="en-IN" dirty="0" err="1"/>
              <a:t>shapiro</a:t>
            </a:r>
            <a:r>
              <a:rPr lang="en-IN" dirty="0"/>
              <a:t>() for normality testing.</a:t>
            </a:r>
          </a:p>
          <a:p>
            <a:r>
              <a:rPr lang="en-IN" dirty="0" err="1"/>
              <a:t>levene</a:t>
            </a:r>
            <a:r>
              <a:rPr lang="en-IN" dirty="0"/>
              <a:t>() for equal variance test.</a:t>
            </a:r>
          </a:p>
          <a:p>
            <a:r>
              <a:rPr lang="en-IN" dirty="0"/>
              <a:t>I also used the </a:t>
            </a:r>
            <a:r>
              <a:rPr lang="en-IN" dirty="0" err="1"/>
              <a:t>groupby</a:t>
            </a:r>
            <a:r>
              <a:rPr lang="en-IN" dirty="0"/>
              <a:t> function from pandas and used matplotlib and seaborn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73" y="280034"/>
            <a:ext cx="7965461" cy="994164"/>
          </a:xfrm>
        </p:spPr>
        <p:txBody>
          <a:bodyPr numCol="1"/>
          <a:lstStyle/>
          <a:p>
            <a:r>
              <a:rPr lang="en-US" sz="2800" dirty="0"/>
              <a:t>Practical Application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9456" y="1490472"/>
            <a:ext cx="11439144" cy="4983480"/>
          </a:xfrm>
        </p:spPr>
        <p:txBody>
          <a:bodyPr numCol="2"/>
          <a:lstStyle/>
          <a:p>
            <a:r>
              <a:rPr lang="en-US" dirty="0"/>
              <a:t>In the first assignment given, I had calculated mean, median and mode to describe the data.</a:t>
            </a:r>
          </a:p>
          <a:p>
            <a:r>
              <a:rPr lang="en-US" dirty="0"/>
              <a:t>I used variance and standard deviation to measure how spread out the scores are.</a:t>
            </a:r>
          </a:p>
          <a:p>
            <a:r>
              <a:rPr lang="en-US" dirty="0"/>
              <a:t>I applied range and interquartile range (IQR) to understand the data spread.</a:t>
            </a:r>
          </a:p>
          <a:p>
            <a:r>
              <a:rPr lang="en-US" dirty="0"/>
              <a:t>Introduced basic probability to calculate likelihood of events (like product preference).</a:t>
            </a:r>
          </a:p>
          <a:p>
            <a:r>
              <a:rPr lang="en-US" dirty="0"/>
              <a:t>Used normal distribution (Z-scores) to find probabilities for continuous data.</a:t>
            </a:r>
          </a:p>
          <a:p>
            <a:r>
              <a:rPr lang="en-US" dirty="0"/>
              <a:t>In the second assignment Case 1, I compared the three types of teaching methods using ANOVA.</a:t>
            </a:r>
          </a:p>
          <a:p>
            <a:r>
              <a:rPr lang="en-US" dirty="0"/>
              <a:t>Found that the Blended learning has the highest average scores. Confirmed differences were statistically significant since p-value was &lt; 0.05.</a:t>
            </a:r>
          </a:p>
          <a:p>
            <a:r>
              <a:rPr lang="en-US" dirty="0"/>
              <a:t>Post-hoc tests (Tukey) showed Blended &gt; Traditional &gt; Online. Found a conclusion that Blended learning worked in </a:t>
            </a:r>
            <a:r>
              <a:rPr lang="en-US" dirty="0" err="1"/>
              <a:t>favour</a:t>
            </a:r>
            <a:r>
              <a:rPr lang="en-US" dirty="0"/>
              <a:t> for the students’ performances.</a:t>
            </a:r>
          </a:p>
          <a:p>
            <a:r>
              <a:rPr lang="en-US" dirty="0"/>
              <a:t>In the Case 2, I compared the sales across North, South and West regions using ANOVA.</a:t>
            </a:r>
          </a:p>
          <a:p>
            <a:r>
              <a:rPr lang="en-US" dirty="0"/>
              <a:t>Found that West has the highest average sales and South the lowest. Tukey test confirmed that West significantly outperformed the other two.</a:t>
            </a:r>
          </a:p>
          <a:p>
            <a:r>
              <a:rPr lang="en-US" dirty="0"/>
              <a:t>One-sample t-tests checked each region against the company’s target (110k dollars).</a:t>
            </a:r>
          </a:p>
          <a:p>
            <a:r>
              <a:rPr lang="en-US" dirty="0"/>
              <a:t>I concluded that West campaign strategy works best, South has underperformed.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Through these theoretical explanations and practical work I have understood the concept of comparing results to allow us to derive insights which could help us make better and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{594C8911-601B-486C-AA21-C9EC720CA211}tf78438558_win32</Template>
  <TotalTime>27</TotalTime>
  <Words>520</Words>
  <Application>Microsoft Office PowerPoint</Application>
  <PresentationFormat>Widescreen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Sabon Next LT</vt:lpstr>
      <vt:lpstr>Custom</vt:lpstr>
      <vt:lpstr>MODULE 3: STATISTICS AND PROBABILITY  SHIVALI MUTHUKUMAR</vt:lpstr>
      <vt:lpstr>synopsis</vt:lpstr>
      <vt:lpstr>Topics discussed and understanding</vt:lpstr>
      <vt:lpstr>Practical Application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Sanjana M. 23BCO043</dc:creator>
  <cp:lastModifiedBy>Sanjana M. 23BCO043</cp:lastModifiedBy>
  <cp:revision>1</cp:revision>
  <dcterms:created xsi:type="dcterms:W3CDTF">2025-09-09T06:11:04Z</dcterms:created>
  <dcterms:modified xsi:type="dcterms:W3CDTF">2025-09-09T06:38:43Z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